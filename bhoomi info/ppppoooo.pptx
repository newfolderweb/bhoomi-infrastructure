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32" r:id="rId1"/>
  </p:sldMasterIdLst>
  <p:sldIdLst>
    <p:sldId id="260" r:id="rId2"/>
    <p:sldId id="258" r:id="rId3"/>
    <p:sldId id="263" r:id="rId4"/>
    <p:sldId id="262" r:id="rId5"/>
    <p:sldId id="264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C8B24D3-0075-4334-BF6E-BF21BAEA9C05}">
          <p14:sldIdLst>
            <p14:sldId id="260"/>
            <p14:sldId id="258"/>
            <p14:sldId id="263"/>
            <p14:sldId id="262"/>
            <p14:sldId id="264"/>
          </p14:sldIdLst>
        </p14:section>
        <p14:section name="Untitled Section" id="{F5048C77-436D-4467-83DF-6E13F01C253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94434-C2CA-4289-B321-4BDFB9BDB111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7C6-7D36-4897-82B5-31CC31DD8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090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94434-C2CA-4289-B321-4BDFB9BDB111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7C6-7D36-4897-82B5-31CC31DD8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908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94434-C2CA-4289-B321-4BDFB9BDB111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7C6-7D36-4897-82B5-31CC31DD8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919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94434-C2CA-4289-B321-4BDFB9BDB111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7C6-7D36-4897-82B5-31CC31DD8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122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94434-C2CA-4289-B321-4BDFB9BDB111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7C6-7D36-4897-82B5-31CC31DD8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081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94434-C2CA-4289-B321-4BDFB9BDB111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7C6-7D36-4897-82B5-31CC31DD8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321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94434-C2CA-4289-B321-4BDFB9BDB111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7C6-7D36-4897-82B5-31CC31DD8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56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94434-C2CA-4289-B321-4BDFB9BDB111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7C6-7D36-4897-82B5-31CC31DD8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572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7C6-7D36-4897-82B5-31CC31DD8106}" type="slidenum">
              <a:rPr lang="en-IN" smtClean="0"/>
              <a:t>‹#›</a:t>
            </a:fld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94434-C2CA-4289-B321-4BDFB9BDB111}" type="datetimeFigureOut">
              <a:rPr lang="en-IN" smtClean="0"/>
              <a:t>13-06-2026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0392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94434-C2CA-4289-B321-4BDFB9BDB111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7C6-7D36-4897-82B5-31CC31DD8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545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94434-C2CA-4289-B321-4BDFB9BDB111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7C6-7D36-4897-82B5-31CC31DD8106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26329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94434-C2CA-4289-B321-4BDFB9BDB111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7C6-7D36-4897-82B5-31CC31DD8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2752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94434-C2CA-4289-B321-4BDFB9BDB111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7C6-7D36-4897-82B5-31CC31DD8106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37625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94434-C2CA-4289-B321-4BDFB9BDB111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7C6-7D36-4897-82B5-31CC31DD8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030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94434-C2CA-4289-B321-4BDFB9BDB111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7C6-7D36-4897-82B5-31CC31DD8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05715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94434-C2CA-4289-B321-4BDFB9BDB111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F697C6-7D36-4897-82B5-31CC31DD8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8423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094434-C2CA-4289-B321-4BDFB9BDB111}" type="datetimeFigureOut">
              <a:rPr lang="en-IN" smtClean="0"/>
              <a:t>13-06-2026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BF697C6-7D36-4897-82B5-31CC31DD81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32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33" r:id="rId1"/>
    <p:sldLayoutId id="2147484534" r:id="rId2"/>
    <p:sldLayoutId id="2147484535" r:id="rId3"/>
    <p:sldLayoutId id="2147484536" r:id="rId4"/>
    <p:sldLayoutId id="2147484537" r:id="rId5"/>
    <p:sldLayoutId id="2147484538" r:id="rId6"/>
    <p:sldLayoutId id="2147484539" r:id="rId7"/>
    <p:sldLayoutId id="2147484540" r:id="rId8"/>
    <p:sldLayoutId id="2147484541" r:id="rId9"/>
    <p:sldLayoutId id="2147484542" r:id="rId10"/>
    <p:sldLayoutId id="2147484543" r:id="rId11"/>
    <p:sldLayoutId id="2147484544" r:id="rId12"/>
    <p:sldLayoutId id="2147484545" r:id="rId13"/>
    <p:sldLayoutId id="2147484546" r:id="rId14"/>
    <p:sldLayoutId id="2147484547" r:id="rId15"/>
    <p:sldLayoutId id="214748454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mailto:bhoomiinfrastructres@gmail.com" TargetMode="Externa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13" Type="http://schemas.openxmlformats.org/officeDocument/2006/relationships/image" Target="../media/image17.jpeg"/><Relationship Id="rId18" Type="http://schemas.openxmlformats.org/officeDocument/2006/relationships/image" Target="../media/image22.png"/><Relationship Id="rId3" Type="http://schemas.openxmlformats.org/officeDocument/2006/relationships/image" Target="../media/image7.jpeg"/><Relationship Id="rId21" Type="http://schemas.openxmlformats.org/officeDocument/2006/relationships/image" Target="../media/image25.png"/><Relationship Id="rId7" Type="http://schemas.openxmlformats.org/officeDocument/2006/relationships/image" Target="../media/image11.jpeg"/><Relationship Id="rId12" Type="http://schemas.openxmlformats.org/officeDocument/2006/relationships/image" Target="../media/image16.jpeg"/><Relationship Id="rId17" Type="http://schemas.openxmlformats.org/officeDocument/2006/relationships/image" Target="../media/image21.jpeg"/><Relationship Id="rId2" Type="http://schemas.openxmlformats.org/officeDocument/2006/relationships/image" Target="../media/image6.jpeg"/><Relationship Id="rId16" Type="http://schemas.openxmlformats.org/officeDocument/2006/relationships/image" Target="../media/image20.jpeg"/><Relationship Id="rId20" Type="http://schemas.openxmlformats.org/officeDocument/2006/relationships/image" Target="../media/image24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11" Type="http://schemas.openxmlformats.org/officeDocument/2006/relationships/image" Target="../media/image15.jpeg"/><Relationship Id="rId5" Type="http://schemas.openxmlformats.org/officeDocument/2006/relationships/image" Target="../media/image9.jpeg"/><Relationship Id="rId15" Type="http://schemas.openxmlformats.org/officeDocument/2006/relationships/image" Target="../media/image19.jpeg"/><Relationship Id="rId10" Type="http://schemas.openxmlformats.org/officeDocument/2006/relationships/image" Target="../media/image14.jpeg"/><Relationship Id="rId19" Type="http://schemas.openxmlformats.org/officeDocument/2006/relationships/image" Target="../media/image23.jpeg"/><Relationship Id="rId4" Type="http://schemas.openxmlformats.org/officeDocument/2006/relationships/image" Target="../media/image8.jpeg"/><Relationship Id="rId9" Type="http://schemas.openxmlformats.org/officeDocument/2006/relationships/image" Target="../media/image13.jpeg"/><Relationship Id="rId14" Type="http://schemas.openxmlformats.org/officeDocument/2006/relationships/image" Target="../media/image18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132B6-6A35-171B-D41F-D8BDCB4F1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18" y="125865"/>
            <a:ext cx="10143461" cy="6732135"/>
          </a:xfrm>
        </p:spPr>
        <p:txBody>
          <a:bodyPr>
            <a:noAutofit/>
          </a:bodyPr>
          <a:lstStyle/>
          <a:p>
            <a:pPr algn="ctr"/>
            <a:r>
              <a:rPr lang="en-US" altLang="en-US" sz="2000" b="1" dirty="0">
                <a:solidFill>
                  <a:schemeClr val="accent5">
                    <a:lumMod val="75000"/>
                  </a:schemeClr>
                </a:solidFill>
                <a:latin typeface="Calisto MT" panose="0204060305050503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GSTIN</a:t>
            </a:r>
            <a:r>
              <a:rPr lang="en-US" altLang="en-US" sz="2000" b="1" dirty="0">
                <a:solidFill>
                  <a:schemeClr val="accent5">
                    <a:lumMod val="75000"/>
                  </a:schemeClr>
                </a:solidFill>
                <a:latin typeface="Calisto MT" panose="02040603050505030304" pitchFamily="18" charset="0"/>
                <a:ea typeface="Times New Roman" panose="02020603050405020304" pitchFamily="18" charset="0"/>
                <a:cs typeface="Aharoni" panose="02010803020104030203" pitchFamily="2" charset="-79"/>
              </a:rPr>
              <a:t>: 20AASFB7214R1Z2                                                    09AASFB7214R1ZM</a:t>
            </a:r>
            <a:br>
              <a:rPr lang="en-US" altLang="en-US" sz="1600" b="1" dirty="0">
                <a:solidFill>
                  <a:srgbClr val="000000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</a:br>
            <a:br>
              <a:rPr lang="en-US" altLang="en-US" sz="1600" b="1" dirty="0">
                <a:solidFill>
                  <a:srgbClr val="000000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</a:br>
            <a:br>
              <a:rPr lang="en-US" altLang="en-US" sz="1600" b="1" dirty="0">
                <a:solidFill>
                  <a:srgbClr val="000000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</a:br>
            <a:br>
              <a:rPr lang="en-US" altLang="en-US" sz="1600" b="1" dirty="0">
                <a:solidFill>
                  <a:srgbClr val="000000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</a:br>
            <a:br>
              <a:rPr lang="en-US" altLang="en-US" sz="1600" b="1" dirty="0">
                <a:solidFill>
                  <a:srgbClr val="000000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Aharoni" panose="02010803020104030203" pitchFamily="2" charset="-79"/>
              </a:rPr>
            </a:br>
            <a:r>
              <a:rPr lang="en-IN" sz="5400" b="1" dirty="0">
                <a:solidFill>
                  <a:srgbClr val="00206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BHOOMI INFRASTRUCTURE</a:t>
            </a:r>
            <a:br>
              <a:rPr lang="en-IN" sz="5400" b="1" dirty="0"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2800" b="1" u="sng" dirty="0">
                <a:solidFill>
                  <a:schemeClr val="tx2"/>
                </a:solidFill>
                <a:latin typeface="Comic Sans MS" panose="030F0702030302020204" pitchFamily="66" charset="0"/>
              </a:rPr>
              <a:t>TRANSFER YOUR BURDEN TO US</a:t>
            </a:r>
            <a:br>
              <a:rPr lang="en-US" sz="2400" b="1" u="sng" dirty="0">
                <a:solidFill>
                  <a:srgbClr val="00B0F0"/>
                </a:solidFill>
                <a:latin typeface="Comic Sans MS" panose="030F0702030302020204" pitchFamily="66" charset="0"/>
              </a:rPr>
            </a:br>
            <a:br>
              <a:rPr lang="en-US" sz="2400" b="1" u="sng" dirty="0">
                <a:solidFill>
                  <a:srgbClr val="00B0F0"/>
                </a:solidFill>
                <a:latin typeface="Comic Sans MS" panose="030F0702030302020204" pitchFamily="66" charset="0"/>
              </a:rPr>
            </a:br>
            <a:r>
              <a:rPr lang="en-US" sz="2400" b="1" u="sng" dirty="0" err="1">
                <a:solidFill>
                  <a:schemeClr val="accent5">
                    <a:lumMod val="75000"/>
                  </a:schemeClr>
                </a:solidFill>
              </a:rPr>
              <a:t>Regd</a:t>
            </a:r>
            <a:r>
              <a:rPr lang="en-US" sz="2400" b="1" u="sng" dirty="0">
                <a:solidFill>
                  <a:schemeClr val="accent5">
                    <a:lumMod val="75000"/>
                  </a:schemeClr>
                </a:solidFill>
              </a:rPr>
              <a:t> Office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     </a:t>
            </a:r>
            <a:b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C/o </a:t>
            </a:r>
            <a:r>
              <a:rPr lang="en-US" sz="2400" dirty="0" err="1">
                <a:solidFill>
                  <a:schemeClr val="accent5">
                    <a:lumMod val="75000"/>
                  </a:schemeClr>
                </a:solidFill>
              </a:rPr>
              <a:t>Satdev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Rai, New Bishnupur, Dhanbad Jharkhand-828130</a:t>
            </a:r>
            <a:br>
              <a:rPr lang="en-US" sz="24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br>
              <a:rPr lang="en-US" sz="24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2400" b="1" u="sng" dirty="0">
                <a:solidFill>
                  <a:schemeClr val="accent5">
                    <a:lumMod val="75000"/>
                  </a:schemeClr>
                </a:solidFill>
              </a:rPr>
              <a:t>Corporate Office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     </a:t>
            </a:r>
            <a:b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H.N-631/07 Nandini Vihar, Sector-12, Indira Nagar	,Lucknow -226010</a:t>
            </a:r>
            <a:br>
              <a:rPr lang="en-US" sz="2400" dirty="0">
                <a:solidFill>
                  <a:schemeClr val="accent5">
                    <a:lumMod val="75000"/>
                  </a:schemeClr>
                </a:solidFill>
              </a:rPr>
            </a:br>
            <a:br>
              <a:rPr lang="en-US" sz="24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Mobile No. 0522-3524986 &amp; 7390090241 </a:t>
            </a:r>
            <a:b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 </a:t>
            </a:r>
            <a:b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Email:  </a:t>
            </a: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bhoomiinfrastructres@gmail.com</a:t>
            </a:r>
            <a:b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      sahilriturajsingh@gmail.com</a:t>
            </a:r>
            <a:br>
              <a:rPr lang="en-IN" sz="2400" b="1" dirty="0">
                <a:solidFill>
                  <a:schemeClr val="accent5">
                    <a:lumMod val="75000"/>
                  </a:schemeClr>
                </a:solidFill>
              </a:rPr>
            </a:br>
            <a:br>
              <a:rPr lang="en-IN" sz="2400" dirty="0">
                <a:solidFill>
                  <a:schemeClr val="accent5">
                    <a:lumMod val="75000"/>
                  </a:schemeClr>
                </a:solidFill>
                <a:latin typeface="Comic Sans MS" panose="030F0702030302020204" pitchFamily="66" charset="0"/>
              </a:rPr>
            </a:br>
            <a:r>
              <a:rPr lang="en-IN" sz="5400" b="1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</a:p>
        </p:txBody>
      </p:sp>
      <p:pic>
        <p:nvPicPr>
          <p:cNvPr id="5" name="Picture 4" descr="Image result for logo for company design">
            <a:extLst>
              <a:ext uri="{FF2B5EF4-FFF2-40B4-BE49-F238E27FC236}">
                <a16:creationId xmlns:a16="http://schemas.microsoft.com/office/drawing/2014/main" id="{998A0B87-4B6F-7BA6-A876-D1373C266F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56464" y="125865"/>
            <a:ext cx="2045712" cy="133306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754425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9E8FA-29EC-1FE9-D76F-A748047BA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76940"/>
          </a:xfrm>
        </p:spPr>
        <p:txBody>
          <a:bodyPr>
            <a:noAutofit/>
          </a:bodyPr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AFD2F-E12E-6AC7-5832-5ED0B3180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079" y="1435395"/>
            <a:ext cx="9409813" cy="532691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latin typeface="Comic Sans MS" panose="030F0702030302020204" pitchFamily="66" charset="0"/>
              </a:rPr>
              <a:t>BHOOMI INFRASTRUCTURE</a:t>
            </a:r>
            <a:r>
              <a:rPr lang="en-IN" sz="2000" dirty="0">
                <a:latin typeface="Comic Sans MS" panose="030F0702030302020204" pitchFamily="66" charset="0"/>
              </a:rPr>
              <a:t> is a professionally managed and dynamic organization specializing in the delivery of comprehensive </a:t>
            </a:r>
            <a:r>
              <a:rPr lang="en-IN" sz="2000" b="1" dirty="0">
                <a:solidFill>
                  <a:srgbClr val="7030A0"/>
                </a:solidFill>
                <a:latin typeface="Comic Sans MS" panose="030F0702030302020204" pitchFamily="66" charset="0"/>
              </a:rPr>
              <a:t>Manpower Outsourcing, Housekeeping, Sanitation, Facility Management, and Support Staffing Services across India.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Comic Sans MS" panose="030F0702030302020204" pitchFamily="66" charset="0"/>
              </a:rPr>
              <a:t>Over the years, we have established a strong reputation for providing reliable, efficient, workforce solutions to a diverse range of clients, including </a:t>
            </a:r>
            <a:r>
              <a:rPr lang="en-IN" sz="2000" b="1" dirty="0">
                <a:solidFill>
                  <a:srgbClr val="7030A0"/>
                </a:solidFill>
                <a:latin typeface="Comic Sans MS" panose="030F0702030302020204" pitchFamily="66" charset="0"/>
              </a:rPr>
              <a:t>Government Departments, Public Sector Undertakings (PSUs), Defence Establishments, Power Sector Organizations, Educational Institutions, Healthcare Facilities, Ministries of the Government of India, State Government Departments, and Private Sector Enterprises.</a:t>
            </a:r>
            <a:endParaRPr lang="en-IN" sz="2000" dirty="0">
              <a:solidFill>
                <a:srgbClr val="7030A0"/>
              </a:solidFill>
              <a:latin typeface="Comic Sans MS" panose="030F0702030302020204" pitchFamily="66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742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5A8A9-020A-C692-2ADF-D791D0122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0"/>
            <a:ext cx="8596668" cy="689402"/>
          </a:xfrm>
        </p:spPr>
        <p:txBody>
          <a:bodyPr>
            <a:normAutofit fontScale="90000"/>
          </a:bodyPr>
          <a:lstStyle/>
          <a:p>
            <a:pPr algn="ctr"/>
            <a:r>
              <a:rPr lang="en-IN" sz="4000" b="1" dirty="0">
                <a:solidFill>
                  <a:schemeClr val="tx2"/>
                </a:solidFill>
              </a:rPr>
              <a:t>KEY PERSONS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B87F26E-AE24-DF23-150F-D72B9928486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4552" y="1250753"/>
            <a:ext cx="2083443" cy="20243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D36653-2958-3B36-0509-658E6ACF049A}"/>
              </a:ext>
            </a:extLst>
          </p:cNvPr>
          <p:cNvSpPr txBox="1"/>
          <p:nvPr/>
        </p:nvSpPr>
        <p:spPr>
          <a:xfrm>
            <a:off x="834552" y="3288828"/>
            <a:ext cx="20834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0" u="none" strike="noStrike" baseline="0" dirty="0">
                <a:solidFill>
                  <a:schemeClr val="tx2"/>
                </a:solidFill>
                <a:latin typeface="CIDFont+F3"/>
              </a:rPr>
              <a:t>Managing Director</a:t>
            </a:r>
          </a:p>
          <a:p>
            <a:pPr algn="ctr"/>
            <a:r>
              <a:rPr lang="en-IN" sz="1400" b="1" i="0" u="none" strike="noStrike" baseline="0" dirty="0">
                <a:solidFill>
                  <a:schemeClr val="tx2"/>
                </a:solidFill>
                <a:latin typeface="CIDFont+F3"/>
              </a:rPr>
              <a:t>(EX INDIAN AIR FORCE)</a:t>
            </a:r>
            <a:endParaRPr lang="en-IN" sz="1400" b="1" dirty="0">
              <a:solidFill>
                <a:schemeClr val="tx2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F2694C-DC74-2DD6-58A4-25BD00856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621" y="1250753"/>
            <a:ext cx="1990846" cy="193235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83D4BA-2FE5-761F-B44B-5B53F1405A09}"/>
              </a:ext>
            </a:extLst>
          </p:cNvPr>
          <p:cNvSpPr txBox="1"/>
          <p:nvPr/>
        </p:nvSpPr>
        <p:spPr>
          <a:xfrm>
            <a:off x="4197620" y="3275086"/>
            <a:ext cx="19908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b="1" i="0" u="none" strike="noStrike" baseline="0" dirty="0">
                <a:solidFill>
                  <a:schemeClr val="tx2"/>
                </a:solidFill>
                <a:latin typeface="CIDFont+F3"/>
              </a:rPr>
              <a:t>Director</a:t>
            </a:r>
          </a:p>
          <a:p>
            <a:pPr algn="ctr"/>
            <a:r>
              <a:rPr lang="en-IN" sz="1800" b="1" i="0" u="none" strike="noStrike" baseline="0" dirty="0">
                <a:solidFill>
                  <a:schemeClr val="tx2"/>
                </a:solidFill>
                <a:latin typeface="CIDFont+F3"/>
              </a:rPr>
              <a:t>(B.COM)</a:t>
            </a:r>
            <a:endParaRPr lang="en-IN" b="1" dirty="0">
              <a:solidFill>
                <a:schemeClr val="tx2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8B25F9-8444-7704-06A4-D19244BE7428}"/>
              </a:ext>
            </a:extLst>
          </p:cNvPr>
          <p:cNvSpPr txBox="1"/>
          <p:nvPr/>
        </p:nvSpPr>
        <p:spPr>
          <a:xfrm>
            <a:off x="547794" y="681333"/>
            <a:ext cx="3120079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00" b="1" i="0" u="none" strike="noStrike" baseline="0" dirty="0">
                <a:solidFill>
                  <a:srgbClr val="2E1B11"/>
                </a:solidFill>
                <a:latin typeface="CIDFont+F2"/>
              </a:rPr>
              <a:t>MR. SUDHIR KUMAR SINGH</a:t>
            </a:r>
            <a:endParaRPr lang="en-IN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C3DF38-82DC-44C9-7736-61EE094D1EDB}"/>
              </a:ext>
            </a:extLst>
          </p:cNvPr>
          <p:cNvSpPr txBox="1"/>
          <p:nvPr/>
        </p:nvSpPr>
        <p:spPr>
          <a:xfrm>
            <a:off x="4131965" y="748257"/>
            <a:ext cx="2330479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00" b="1" i="0" u="none" strike="noStrike" baseline="0" dirty="0">
                <a:solidFill>
                  <a:srgbClr val="2E1B11"/>
                </a:solidFill>
                <a:latin typeface="CIDFont+F2"/>
              </a:rPr>
              <a:t>MRS. SARITA SINGH</a:t>
            </a:r>
            <a:endParaRPr lang="en-IN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B691D9F-41F3-7646-21A5-B153DEA24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9166" y="1258083"/>
            <a:ext cx="1884012" cy="198629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9072DD5-4FA8-B80C-E35E-1432EA767107}"/>
              </a:ext>
            </a:extLst>
          </p:cNvPr>
          <p:cNvSpPr txBox="1"/>
          <p:nvPr/>
        </p:nvSpPr>
        <p:spPr>
          <a:xfrm>
            <a:off x="7116150" y="781382"/>
            <a:ext cx="2157852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900" b="1" i="0" u="none" strike="noStrike" baseline="0" dirty="0">
                <a:solidFill>
                  <a:srgbClr val="2E1B11"/>
                </a:solidFill>
                <a:latin typeface="CIDFont+F2"/>
              </a:rPr>
              <a:t>MR. SAHIL SINGH</a:t>
            </a:r>
            <a:endParaRPr lang="en-IN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0B4428-A45B-374E-AF16-8ACDAC93CAB5}"/>
              </a:ext>
            </a:extLst>
          </p:cNvPr>
          <p:cNvSpPr txBox="1"/>
          <p:nvPr/>
        </p:nvSpPr>
        <p:spPr>
          <a:xfrm>
            <a:off x="7229166" y="3244376"/>
            <a:ext cx="199084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700" b="1" i="0" u="none" strike="noStrike" baseline="0" dirty="0">
                <a:solidFill>
                  <a:schemeClr val="tx2"/>
                </a:solidFill>
                <a:latin typeface="CIDFont+F3"/>
              </a:rPr>
              <a:t>HR </a:t>
            </a:r>
            <a:r>
              <a:rPr lang="en-IN" sz="1700" b="1" dirty="0">
                <a:solidFill>
                  <a:schemeClr val="tx2"/>
                </a:solidFill>
                <a:latin typeface="CIDFont+F3"/>
              </a:rPr>
              <a:t>Admin &amp; Accts</a:t>
            </a:r>
            <a:endParaRPr lang="en-IN" sz="1700" b="1" i="0" u="none" strike="noStrike" baseline="0" dirty="0">
              <a:solidFill>
                <a:schemeClr val="tx2"/>
              </a:solidFill>
              <a:latin typeface="CIDFont+F3"/>
            </a:endParaRPr>
          </a:p>
          <a:p>
            <a:pPr algn="ctr"/>
            <a:r>
              <a:rPr lang="en-IN" sz="1700" b="1" i="0" u="none" strike="noStrike" baseline="0" dirty="0">
                <a:solidFill>
                  <a:schemeClr val="tx2"/>
                </a:solidFill>
                <a:latin typeface="CIDFont+F3"/>
              </a:rPr>
              <a:t>(ELEC. &amp; COMM.)</a:t>
            </a:r>
            <a:endParaRPr lang="en-IN" b="1" dirty="0">
              <a:solidFill>
                <a:schemeClr val="tx2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060188B-C855-FB95-05FE-A5D3967F7A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551" y="4544006"/>
            <a:ext cx="2083443" cy="186558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E4A0501-5316-0ED0-E62D-5CBC3BED1A30}"/>
              </a:ext>
            </a:extLst>
          </p:cNvPr>
          <p:cNvSpPr txBox="1"/>
          <p:nvPr/>
        </p:nvSpPr>
        <p:spPr>
          <a:xfrm>
            <a:off x="603450" y="4159285"/>
            <a:ext cx="2674006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00" b="1" i="0" u="none" strike="noStrike" baseline="0" dirty="0">
                <a:solidFill>
                  <a:srgbClr val="2E1B11"/>
                </a:solidFill>
                <a:latin typeface="CIDFont+F2"/>
              </a:rPr>
              <a:t>MR. SUBRAT KR. SAGAR</a:t>
            </a:r>
            <a:endParaRPr lang="en-IN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C8316B-2C45-18B0-3C0F-F2AB85CA66C1}"/>
              </a:ext>
            </a:extLst>
          </p:cNvPr>
          <p:cNvSpPr txBox="1"/>
          <p:nvPr/>
        </p:nvSpPr>
        <p:spPr>
          <a:xfrm>
            <a:off x="834552" y="6352556"/>
            <a:ext cx="202790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700" b="1" i="0" u="none" strike="noStrike" baseline="0" dirty="0">
                <a:solidFill>
                  <a:schemeClr val="tx2"/>
                </a:solidFill>
                <a:latin typeface="CIDFont+F3"/>
              </a:rPr>
              <a:t>Executive Manager</a:t>
            </a:r>
          </a:p>
          <a:p>
            <a:pPr algn="ctr"/>
            <a:r>
              <a:rPr lang="en-IN" sz="1700" b="1" i="0" u="none" strike="noStrike" baseline="0" dirty="0">
                <a:solidFill>
                  <a:schemeClr val="tx2"/>
                </a:solidFill>
                <a:latin typeface="CIDFont+F3"/>
              </a:rPr>
              <a:t>(E</a:t>
            </a:r>
            <a:r>
              <a:rPr lang="en-IN" sz="1700" b="1" dirty="0">
                <a:solidFill>
                  <a:schemeClr val="tx2"/>
                </a:solidFill>
                <a:latin typeface="CIDFont+F3"/>
              </a:rPr>
              <a:t>lect Eng</a:t>
            </a:r>
            <a:r>
              <a:rPr lang="en-IN" sz="1700" b="1" i="0" u="none" strike="noStrike" baseline="0" dirty="0">
                <a:solidFill>
                  <a:schemeClr val="tx2"/>
                </a:solidFill>
                <a:latin typeface="CIDFont+F3"/>
              </a:rPr>
              <a:t>)</a:t>
            </a:r>
            <a:endParaRPr lang="en-IN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288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514F2-EF0B-5F52-45AB-57431C470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48198"/>
            <a:ext cx="8596668" cy="826691"/>
          </a:xfrm>
        </p:spPr>
        <p:txBody>
          <a:bodyPr>
            <a:normAutofit/>
          </a:bodyPr>
          <a:lstStyle/>
          <a:p>
            <a:pPr algn="ctr"/>
            <a:r>
              <a:rPr lang="en-IN" sz="4400" b="1" dirty="0">
                <a:solidFill>
                  <a:srgbClr val="002060"/>
                </a:solidFill>
              </a:rPr>
              <a:t>OUR ESTEEMED CLIENTS</a:t>
            </a:r>
          </a:p>
        </p:txBody>
      </p:sp>
      <p:pic>
        <p:nvPicPr>
          <p:cNvPr id="1026" name="Picture 2" descr="Indian Army">
            <a:extLst>
              <a:ext uri="{FF2B5EF4-FFF2-40B4-BE49-F238E27FC236}">
                <a16:creationId xmlns:a16="http://schemas.microsoft.com/office/drawing/2014/main" id="{D4E78C73-743C-9B48-16E3-10DC7C97566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81" y="1049565"/>
            <a:ext cx="1393076" cy="1399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AF Logo Wallpapers - Wallpaper Cave">
            <a:extLst>
              <a:ext uri="{FF2B5EF4-FFF2-40B4-BE49-F238E27FC236}">
                <a16:creationId xmlns:a16="http://schemas.microsoft.com/office/drawing/2014/main" id="{2A49B3B3-29CE-AACB-9ADA-9150A6714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8649" y="1072163"/>
            <a:ext cx="1393075" cy="1351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ndian Navy Logo PNG Transparent With Clear Background ID 184647 ...">
            <a:extLst>
              <a:ext uri="{FF2B5EF4-FFF2-40B4-BE49-F238E27FC236}">
                <a16:creationId xmlns:a16="http://schemas.microsoft.com/office/drawing/2014/main" id="{32DB4F69-5CA9-A3DD-B08A-C625CEC53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535" y="1072163"/>
            <a:ext cx="1393075" cy="134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Ministry Of Tourism: Year End Review 2019 - Travel Mail | India s ...">
            <a:extLst>
              <a:ext uri="{FF2B5EF4-FFF2-40B4-BE49-F238E27FC236}">
                <a16:creationId xmlns:a16="http://schemas.microsoft.com/office/drawing/2014/main" id="{1AA358B1-5C48-55EC-B359-18AD2877AD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020" y="1106249"/>
            <a:ext cx="2456860" cy="1399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AutoShape 12" descr="Finance_Ministry">
            <a:extLst>
              <a:ext uri="{FF2B5EF4-FFF2-40B4-BE49-F238E27FC236}">
                <a16:creationId xmlns:a16="http://schemas.microsoft.com/office/drawing/2014/main" id="{9AD2F2AC-57A4-7AAA-4030-693F9DD5FFC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14" descr="Finance_Ministry">
            <a:extLst>
              <a:ext uri="{FF2B5EF4-FFF2-40B4-BE49-F238E27FC236}">
                <a16:creationId xmlns:a16="http://schemas.microsoft.com/office/drawing/2014/main" id="{F1C45D56-951B-32D8-390F-60484637F6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16" descr="Finance_Ministry">
            <a:extLst>
              <a:ext uri="{FF2B5EF4-FFF2-40B4-BE49-F238E27FC236}">
                <a16:creationId xmlns:a16="http://schemas.microsoft.com/office/drawing/2014/main" id="{527D0015-04AC-A4DD-454A-F6DEF82A41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925601" y="3581400"/>
            <a:ext cx="1670407" cy="1627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42" name="Picture 18">
            <a:extLst>
              <a:ext uri="{FF2B5EF4-FFF2-40B4-BE49-F238E27FC236}">
                <a16:creationId xmlns:a16="http://schemas.microsoft.com/office/drawing/2014/main" id="{69F365DC-C1CF-B7E4-2278-3C1B64F10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1930" y="1127289"/>
            <a:ext cx="1523038" cy="114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Epfo Logo PNG Images (Transparent HD Photo Clipart)">
            <a:extLst>
              <a:ext uri="{FF2B5EF4-FFF2-40B4-BE49-F238E27FC236}">
                <a16:creationId xmlns:a16="http://schemas.microsoft.com/office/drawing/2014/main" id="{3B0A6197-EB39-C02F-4F32-C7F5033AE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232" y="4136058"/>
            <a:ext cx="1280897" cy="1173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Power Grid Corporation Of India Logo, HD Png Download , Transparent Png ...">
            <a:extLst>
              <a:ext uri="{FF2B5EF4-FFF2-40B4-BE49-F238E27FC236}">
                <a16:creationId xmlns:a16="http://schemas.microsoft.com/office/drawing/2014/main" id="{88FD8DCB-7B42-E1D4-F0D7-CC313A033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8892" y="4113290"/>
            <a:ext cx="914400" cy="112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About Us | SAPSONS - Mumbai, India">
            <a:extLst>
              <a:ext uri="{FF2B5EF4-FFF2-40B4-BE49-F238E27FC236}">
                <a16:creationId xmlns:a16="http://schemas.microsoft.com/office/drawing/2014/main" id="{20B74A84-147D-B425-D3A1-BC55EFCA4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198" y="4246973"/>
            <a:ext cx="1133475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 descr="Ministry of Education | Logopedia | Fandom">
            <a:extLst>
              <a:ext uri="{FF2B5EF4-FFF2-40B4-BE49-F238E27FC236}">
                <a16:creationId xmlns:a16="http://schemas.microsoft.com/office/drawing/2014/main" id="{F7C2B334-945E-365E-8C24-F8A978554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44" y="2771775"/>
            <a:ext cx="1362075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 descr="SIR snapshot: Gujarat records deletion of over 68 lakh voters ...">
            <a:extLst>
              <a:ext uri="{FF2B5EF4-FFF2-40B4-BE49-F238E27FC236}">
                <a16:creationId xmlns:a16="http://schemas.microsoft.com/office/drawing/2014/main" id="{D0EE7502-0DD1-C6FA-0F72-3C9E7CC60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2465" y="4293777"/>
            <a:ext cx="1333500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utoShape 30" descr="KV-logo">
            <a:extLst>
              <a:ext uri="{FF2B5EF4-FFF2-40B4-BE49-F238E27FC236}">
                <a16:creationId xmlns:a16="http://schemas.microsoft.com/office/drawing/2014/main" id="{40C32E8C-6C05-973E-970E-16BC51F403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56" name="Picture 32" descr="KVS New Logo: Kendriya Vidyalaya Sangathan gets a new logo - Library ...">
            <a:extLst>
              <a:ext uri="{FF2B5EF4-FFF2-40B4-BE49-F238E27FC236}">
                <a16:creationId xmlns:a16="http://schemas.microsoft.com/office/drawing/2014/main" id="{59E4EB6F-4DBC-68F6-4326-ED9F71FA6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535" y="5517127"/>
            <a:ext cx="1393076" cy="101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 descr="Bharat Petroleum (BPCL)">
            <a:extLst>
              <a:ext uri="{FF2B5EF4-FFF2-40B4-BE49-F238E27FC236}">
                <a16:creationId xmlns:a16="http://schemas.microsoft.com/office/drawing/2014/main" id="{D9AC8E2D-AC75-127D-EAE9-D69964322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705" y="5520675"/>
            <a:ext cx="2251893" cy="107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 descr="Indian Railways Logo PNG Vectors Free Download">
            <a:extLst>
              <a:ext uri="{FF2B5EF4-FFF2-40B4-BE49-F238E27FC236}">
                <a16:creationId xmlns:a16="http://schemas.microsoft.com/office/drawing/2014/main" id="{FACEF9D9-E2F5-022E-0580-7DD665563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198" y="2935454"/>
            <a:ext cx="1221673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 descr="Central Government Health Scheme (CGHS) - Benefits, Eligibility ...">
            <a:extLst>
              <a:ext uri="{FF2B5EF4-FFF2-40B4-BE49-F238E27FC236}">
                <a16:creationId xmlns:a16="http://schemas.microsoft.com/office/drawing/2014/main" id="{B9CE5731-BCFB-88D8-04D2-5370D53E4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8018" y="2744710"/>
            <a:ext cx="1507625" cy="1254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Picture 40" descr="All India Radio">
            <a:extLst>
              <a:ext uri="{FF2B5EF4-FFF2-40B4-BE49-F238E27FC236}">
                <a16:creationId xmlns:a16="http://schemas.microsoft.com/office/drawing/2014/main" id="{3D03812B-FEBA-BE65-7B16-5FBBDE1A2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7778" y="5566446"/>
            <a:ext cx="1424085" cy="920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6" name="Picture 42" descr="BOE9">
            <a:extLst>
              <a:ext uri="{FF2B5EF4-FFF2-40B4-BE49-F238E27FC236}">
                <a16:creationId xmlns:a16="http://schemas.microsoft.com/office/drawing/2014/main" id="{C0B9B2D0-CB25-E0E3-45C4-55689B2AD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8366" y="2809876"/>
            <a:ext cx="1314741" cy="107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8" name="Picture 44">
            <a:extLst>
              <a:ext uri="{FF2B5EF4-FFF2-40B4-BE49-F238E27FC236}">
                <a16:creationId xmlns:a16="http://schemas.microsoft.com/office/drawing/2014/main" id="{3EDA0CCD-E4B1-4C92-AA87-52C4DAB3E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3295" y="5469500"/>
            <a:ext cx="1314741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0" name="Picture 46" descr="Defence Research and Development Organisation (DRDO)">
            <a:extLst>
              <a:ext uri="{FF2B5EF4-FFF2-40B4-BE49-F238E27FC236}">
                <a16:creationId xmlns:a16="http://schemas.microsoft.com/office/drawing/2014/main" id="{509E34E8-5D1E-1C46-0CA8-C8AEE8B83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3295" y="2935454"/>
            <a:ext cx="1221673" cy="1038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2" name="Picture 48" descr="Uttar Pradesh Power Corporation Limited">
            <a:extLst>
              <a:ext uri="{FF2B5EF4-FFF2-40B4-BE49-F238E27FC236}">
                <a16:creationId xmlns:a16="http://schemas.microsoft.com/office/drawing/2014/main" id="{3CF2D939-329C-07F0-FA4D-097EB9559A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3295" y="4200090"/>
            <a:ext cx="1221673" cy="1064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4" name="Picture 50">
            <a:extLst>
              <a:ext uri="{FF2B5EF4-FFF2-40B4-BE49-F238E27FC236}">
                <a16:creationId xmlns:a16="http://schemas.microsoft.com/office/drawing/2014/main" id="{B4FDF40E-0C19-66F1-4199-D6E8EF4255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2465" y="5361398"/>
            <a:ext cx="1518715" cy="1255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1864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31654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448</TotalTime>
  <Words>233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Aharoni</vt:lpstr>
      <vt:lpstr>Arial</vt:lpstr>
      <vt:lpstr>Arial Black</vt:lpstr>
      <vt:lpstr>Calisto MT</vt:lpstr>
      <vt:lpstr>CIDFont+F2</vt:lpstr>
      <vt:lpstr>CIDFont+F3</vt:lpstr>
      <vt:lpstr>Comic Sans MS</vt:lpstr>
      <vt:lpstr>Trebuchet MS</vt:lpstr>
      <vt:lpstr>Wingdings 3</vt:lpstr>
      <vt:lpstr>Facet</vt:lpstr>
      <vt:lpstr>GSTIN: 20AASFB7214R1Z2                                                    09AASFB7214R1ZM     BHOOMI INFRASTRUCTURE TRANSFER YOUR BURDEN TO US  Regd Office      C/o Satdev Rai, New Bishnupur, Dhanbad Jharkhand-828130   Corporate Office      H.N-631/07 Nandini Vihar, Sector-12, Indira Nagar ,Lucknow -226010  Mobile No. 0522-3524986 &amp; 7390090241    Email:  bhoomiinfrastructres@gmail.com       sahilriturajsingh@gmail.com   </vt:lpstr>
      <vt:lpstr>Overview</vt:lpstr>
      <vt:lpstr>KEY PERSONS</vt:lpstr>
      <vt:lpstr>OUR ESTEEMED CLIENTS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Sahil Singh</dc:creator>
  <cp:lastModifiedBy>Sahil Singh</cp:lastModifiedBy>
  <cp:revision>12</cp:revision>
  <dcterms:created xsi:type="dcterms:W3CDTF">2026-06-08T18:43:23Z</dcterms:created>
  <dcterms:modified xsi:type="dcterms:W3CDTF">2026-06-13T05:58:03Z</dcterms:modified>
</cp:coreProperties>
</file>